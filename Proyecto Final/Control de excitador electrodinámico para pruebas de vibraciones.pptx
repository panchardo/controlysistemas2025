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6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8/8/2025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8/8/2025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634F9-359B-41E5-8A56-69BBC5F30F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Control de excitador electrodinámico para pruebas de vibraciones en </a:t>
            </a:r>
            <a:r>
              <a:rPr lang="es-ES" dirty="0" err="1"/>
              <a:t>CubeSATs</a:t>
            </a:r>
            <a:endParaRPr lang="es-A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EAC1B8A-28F0-4438-9A5D-02F6832903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s-AR" dirty="0"/>
              <a:t>Francisco </a:t>
            </a:r>
            <a:r>
              <a:rPr lang="es-AR" dirty="0" err="1"/>
              <a:t>Dalessandro</a:t>
            </a:r>
            <a:endParaRPr lang="es-AR" dirty="0"/>
          </a:p>
          <a:p>
            <a:r>
              <a:rPr lang="es-AR" dirty="0"/>
              <a:t>Cátedra Control y Sistemas</a:t>
            </a:r>
          </a:p>
          <a:p>
            <a:r>
              <a:rPr lang="es-AR" dirty="0"/>
              <a:t>19 de agosto de 2025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33FEDD-94BB-4ABA-8391-1AE9997543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89" y="5026083"/>
            <a:ext cx="2246956" cy="1674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658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8D9BB3-D93E-486D-8F18-BFBD5EE64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Motivación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CA66FFBD-EF89-4E53-A840-38F12295F7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4698" y="541131"/>
            <a:ext cx="3791368" cy="5995872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F93BB55-0349-42C5-B8F6-810F6BE1A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48590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171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5A3ABB-87D7-4AEB-A195-51AFD4560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Objetivo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DA404E8-49C2-467C-BC64-45E011307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5589"/>
            <a:ext cx="8596668" cy="4392611"/>
          </a:xfrm>
        </p:spPr>
        <p:txBody>
          <a:bodyPr>
            <a:normAutofit lnSpcReduction="10000"/>
          </a:bodyPr>
          <a:lstStyle/>
          <a:p>
            <a:r>
              <a:rPr lang="es-ES" dirty="0"/>
              <a:t>Ensayo Modal</a:t>
            </a:r>
          </a:p>
          <a:p>
            <a:pPr lvl="1"/>
            <a:r>
              <a:rPr lang="es-ES" dirty="0"/>
              <a:t>Tasa de barrido: 2 oct/min</a:t>
            </a:r>
          </a:p>
          <a:p>
            <a:pPr lvl="1"/>
            <a:r>
              <a:rPr lang="es-ES" dirty="0"/>
              <a:t>Armónicos con frecuencias entre 5 y 100 Hz. Todos con amplitud 0.15g.</a:t>
            </a:r>
          </a:p>
          <a:p>
            <a:r>
              <a:rPr lang="es-ES" dirty="0"/>
              <a:t>Ensayo Sinusoidal</a:t>
            </a:r>
          </a:p>
          <a:p>
            <a:pPr lvl="1"/>
            <a:r>
              <a:rPr lang="es-ES" dirty="0"/>
              <a:t>Tasa de barrido: 2 oct/min</a:t>
            </a:r>
          </a:p>
          <a:p>
            <a:pPr lvl="1"/>
            <a:r>
              <a:rPr lang="es-ES" dirty="0"/>
              <a:t>Armónicos con:</a:t>
            </a:r>
          </a:p>
          <a:p>
            <a:pPr lvl="2"/>
            <a:r>
              <a:rPr lang="es-ES" dirty="0"/>
              <a:t>Frecuencias de 5 hasta 100 Hz. Amplitud 2.5g</a:t>
            </a:r>
          </a:p>
          <a:p>
            <a:pPr lvl="2"/>
            <a:r>
              <a:rPr lang="es-ES" dirty="0"/>
              <a:t>Frecuencias de 100 hasta 120 Hz. Amplitud 1.25g</a:t>
            </a:r>
          </a:p>
          <a:p>
            <a:r>
              <a:rPr lang="es-ES" dirty="0"/>
              <a:t>Ensayo de Vibración Aleatoria</a:t>
            </a:r>
          </a:p>
          <a:p>
            <a:pPr lvl="1"/>
            <a:r>
              <a:rPr lang="es-ES" dirty="0"/>
              <a:t>Aceleración RMS: 8.03g</a:t>
            </a:r>
          </a:p>
          <a:p>
            <a:pPr lvl="1"/>
            <a:r>
              <a:rPr lang="es-ES" dirty="0"/>
              <a:t>Duración: 120 </a:t>
            </a:r>
            <a:r>
              <a:rPr lang="es-ES" dirty="0" err="1"/>
              <a:t>seg</a:t>
            </a:r>
            <a:r>
              <a:rPr lang="es-ES" dirty="0"/>
              <a:t>.</a:t>
            </a:r>
          </a:p>
          <a:p>
            <a:pPr lvl="1"/>
            <a:r>
              <a:rPr lang="es-ES" dirty="0"/>
              <a:t>Perfil PSD: ver Tabla</a:t>
            </a:r>
            <a:endParaRPr lang="es-AR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E0D1E8-CCCF-4A53-AA00-91552D73D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102" y="5184672"/>
            <a:ext cx="3905795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098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68CCE5-12B6-4C5E-9998-11BF0B423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60447BE5-D83B-4717-993E-830B975A54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0235" y="1601788"/>
            <a:ext cx="5165298" cy="4356189"/>
          </a:xfrm>
        </p:spPr>
      </p:pic>
    </p:spTree>
    <p:extLst>
      <p:ext uri="{BB962C8B-B14F-4D97-AF65-F5344CB8AC3E}">
        <p14:creationId xmlns:p14="http://schemas.microsoft.com/office/powerpoint/2010/main" val="2133532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03EEF-F672-4C09-8556-AA58A6FAC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FC2029C-284A-4BBF-914B-6B389CA044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8733" y="1521892"/>
            <a:ext cx="4385733" cy="4986643"/>
          </a:xfr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C4D2848-F44C-4223-B229-0EE466427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858" y="1521892"/>
            <a:ext cx="6325483" cy="96215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551E5FA-2C58-4F10-AD42-09D48F250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3461" y="2948264"/>
            <a:ext cx="3067478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037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88FCB2-E218-48E3-8428-175F930F7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4141D65-4E7B-4454-8982-A12009405F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400" y="1390121"/>
            <a:ext cx="8010437" cy="3881437"/>
          </a:xfr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611B641-5FB4-4554-AB97-F0C52FA9D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694" y="5271558"/>
            <a:ext cx="3334215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681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1718A55E-07E3-466D-9E8B-6E8AA62B4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pic>
        <p:nvPicPr>
          <p:cNvPr id="16" name="Marcador de contenido 15">
            <a:extLst>
              <a:ext uri="{FF2B5EF4-FFF2-40B4-BE49-F238E27FC236}">
                <a16:creationId xmlns:a16="http://schemas.microsoft.com/office/drawing/2014/main" id="{0B76AC21-542D-46B1-8895-17CB30EB9E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3531" y="1560629"/>
            <a:ext cx="4858428" cy="543001"/>
          </a:xfr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29C2147A-0A4D-492D-A768-CDC63CFAD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873" y="2276860"/>
            <a:ext cx="4067743" cy="2067213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885687BA-DF3B-478D-BA52-ECEDCE1C3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9425" y="4517303"/>
            <a:ext cx="3486637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677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3947EB-2A12-4F67-80DD-5101525CF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AF68963-1555-40EC-B5F1-8CF535108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2E19C63-78CF-4392-BA54-BB2B7EE5D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791" y="2921957"/>
            <a:ext cx="4391638" cy="21053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274154C-EDE9-4DD3-9FCB-FC21D49D0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344" y="2521851"/>
            <a:ext cx="3448531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790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F5C00-A3CC-43BD-94CD-9D768DDB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D7C40D05-E4B2-4DCB-9983-D1DE425D2E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4841" y="1270000"/>
            <a:ext cx="6177492" cy="4633119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1B664E1-FC85-46A8-8B0E-991048550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2160589"/>
            <a:ext cx="1571844" cy="96215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61E7595-9519-44D0-ADF2-A8611BAD54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500" y="6043584"/>
            <a:ext cx="5439534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121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AA5360-F94F-46F6-8D6B-097BC4669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92E1C6-E6A4-4FB2-8139-E8F303933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AR" dirty="0"/>
              <a:t>Subsistema eléctrico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12F881F-034B-45F4-A946-A619BA9A1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8424" y="2781210"/>
            <a:ext cx="2695951" cy="64779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F2D3E1D-2972-4391-B2A3-56D146869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842" y="3638186"/>
            <a:ext cx="6011114" cy="261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34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51C69C-49DC-4919-AA79-CF48212E9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Modelado lineal de la planta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1F0E4F-832D-404F-B0E5-DA70EAB92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070A271-83E5-47E0-A48E-34AC6FDE2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821" y="1831825"/>
            <a:ext cx="7845227" cy="140925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8EAA28F-06D6-490E-8163-EEDD37E6D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998" y="3471270"/>
            <a:ext cx="4434109" cy="2456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22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89F9F8-1BEC-431D-8C6B-8B88E5E3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No linealidades de la planta</a:t>
            </a: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B659DD-ADE6-43AB-B696-809F10461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50870"/>
            <a:ext cx="8596668" cy="3880773"/>
          </a:xfrm>
        </p:spPr>
        <p:txBody>
          <a:bodyPr/>
          <a:lstStyle/>
          <a:p>
            <a:r>
              <a:rPr lang="es-ES" dirty="0"/>
              <a:t>La resistencia del bobinado es variable con la temperatura</a:t>
            </a:r>
          </a:p>
          <a:p>
            <a:r>
              <a:rPr lang="es-ES" dirty="0"/>
              <a:t>La carrera de la bobina móvil es limitada a una pulgada (25.4 mm)</a:t>
            </a:r>
          </a:p>
          <a:p>
            <a:r>
              <a:rPr lang="es-ES" dirty="0"/>
              <a:t>La constante </a:t>
            </a:r>
            <a:r>
              <a:rPr lang="es-ES" dirty="0" err="1"/>
              <a:t>K_motor</a:t>
            </a:r>
            <a:r>
              <a:rPr lang="es-ES" dirty="0"/>
              <a:t> en realidad es función de la carrera</a:t>
            </a:r>
            <a:endParaRPr lang="es-AR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638FE62-766B-43D8-9159-25F067D4D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1" y="2692400"/>
            <a:ext cx="5418666" cy="4064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54D0795-5713-44B9-BDB4-B0D402D5B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532" y="2643827"/>
            <a:ext cx="5548193" cy="416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475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6033EE-4454-40D2-9ED0-DEC644AA0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ED24AB4-470F-43A4-BA65-3CDE8FE784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711200"/>
            <a:ext cx="11992099" cy="5435600"/>
          </a:xfrm>
        </p:spPr>
      </p:pic>
    </p:spTree>
    <p:extLst>
      <p:ext uri="{BB962C8B-B14F-4D97-AF65-F5344CB8AC3E}">
        <p14:creationId xmlns:p14="http://schemas.microsoft.com/office/powerpoint/2010/main" val="3873092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424E2-2C5E-4649-A25F-1D376F4B5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Controlador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4EC1215-EBD4-4C64-A90B-8F99A08686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0961" y="1270000"/>
            <a:ext cx="5832376" cy="2001704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7702E43-FBBB-4D7D-AEDF-C335139B3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61" y="3361335"/>
            <a:ext cx="6335009" cy="92405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B464640-8911-4178-8798-B62F265C1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91" y="4105937"/>
            <a:ext cx="7636340" cy="263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328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0DD1DA-E7C2-4F6D-9C39-963FD7E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Controlabilidad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65DB436-51E7-436C-834C-7D334C3DE9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0712" y="2448222"/>
            <a:ext cx="5805072" cy="679180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9896021-A677-41E9-BCB2-BF76B9861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696" y="3435151"/>
            <a:ext cx="2543259" cy="84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71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F37029-B72D-468E-9BCE-EAA72D443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Controlador en cascada</a:t>
            </a:r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6DC29698-7B02-4E4F-B162-FCBA9940F1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71374" y="5745695"/>
            <a:ext cx="2781688" cy="847843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3C13CD3-33FB-4520-ACAA-1F000F933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828" y="1525935"/>
            <a:ext cx="8487960" cy="74305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84CED47-A963-497E-9BB5-CCF4E5BDE9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828" y="2724320"/>
            <a:ext cx="3696216" cy="41915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DE2C203-91F4-4069-A796-EB1307122F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60" y="3487955"/>
            <a:ext cx="4324954" cy="22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9013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B5755A-665D-48FF-8152-9A1FFF7F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Controlador en cascada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F49955EC-2F4A-45F1-9A0C-E14C990114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5494" y="1379521"/>
            <a:ext cx="6894329" cy="5170747"/>
          </a:xfrm>
        </p:spPr>
      </p:pic>
    </p:spTree>
    <p:extLst>
      <p:ext uri="{BB962C8B-B14F-4D97-AF65-F5344CB8AC3E}">
        <p14:creationId xmlns:p14="http://schemas.microsoft.com/office/powerpoint/2010/main" val="1496411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79C7BF-2AA4-4C64-A09C-5554601D0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Controlador en cascada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5247D9B-E383-4570-BFC9-493DCED89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1736969"/>
            <a:ext cx="9455159" cy="4804508"/>
          </a:xfrm>
        </p:spPr>
      </p:pic>
    </p:spTree>
    <p:extLst>
      <p:ext uri="{BB962C8B-B14F-4D97-AF65-F5344CB8AC3E}">
        <p14:creationId xmlns:p14="http://schemas.microsoft.com/office/powerpoint/2010/main" val="4274635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572CD-D189-4200-AC15-7AEABBCFE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Sensor acelerómetro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7C3601-08C5-4B48-BE45-7F30A904F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ADXL1001 (acelerómetro MEMS)</a:t>
            </a:r>
          </a:p>
          <a:p>
            <a:r>
              <a:rPr lang="es-ES" dirty="0"/>
              <a:t>Densidad de ruido: 30 μg/√Hz . </a:t>
            </a:r>
            <a:r>
              <a:rPr lang="es-ES" dirty="0" err="1"/>
              <a:t>tc</a:t>
            </a:r>
            <a:r>
              <a:rPr lang="es-ES" dirty="0"/>
              <a:t> = 0.06/</a:t>
            </a:r>
            <a:r>
              <a:rPr lang="es-ES" dirty="0" err="1"/>
              <a:t>fs</a:t>
            </a:r>
            <a:endParaRPr lang="es-ES" dirty="0"/>
          </a:p>
          <a:p>
            <a:r>
              <a:rPr lang="pt-BR" dirty="0"/>
              <a:t>Ruido rosa o 1/f.</a:t>
            </a:r>
            <a:endParaRPr lang="es-ES" dirty="0"/>
          </a:p>
          <a:p>
            <a:r>
              <a:rPr lang="es-ES" dirty="0"/>
              <a:t>Función de respuesta en frecuencia</a:t>
            </a:r>
          </a:p>
          <a:p>
            <a:r>
              <a:rPr lang="es-ES" dirty="0"/>
              <a:t>Sensibilidad 20mV/g</a:t>
            </a:r>
          </a:p>
          <a:p>
            <a:r>
              <a:rPr lang="es-ES" dirty="0"/>
              <a:t>Componentes de continua. </a:t>
            </a:r>
            <a:r>
              <a:rPr lang="es-ES" dirty="0" err="1"/>
              <a:t>Vcc</a:t>
            </a:r>
            <a:r>
              <a:rPr lang="es-ES" dirty="0"/>
              <a:t> = 5V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F8254DD-8DA7-4E50-A728-89AD35C7F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531" y="1355120"/>
            <a:ext cx="6524373" cy="489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1632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B7DABB-5957-4B9A-8692-3ED539078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Sensor acelerómetro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A48E45B-1057-45EA-A649-DDE23C070F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1930400"/>
            <a:ext cx="9108504" cy="4579296"/>
          </a:xfrm>
        </p:spPr>
      </p:pic>
    </p:spTree>
    <p:extLst>
      <p:ext uri="{BB962C8B-B14F-4D97-AF65-F5344CB8AC3E}">
        <p14:creationId xmlns:p14="http://schemas.microsoft.com/office/powerpoint/2010/main" val="12914390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0F815B-07C9-4238-B661-9DEE20ABE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Filtro </a:t>
            </a:r>
            <a:r>
              <a:rPr lang="es-AR" dirty="0" err="1"/>
              <a:t>antialiasing</a:t>
            </a:r>
            <a:endParaRPr lang="es-AR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0E708E14-98F8-44DC-9C6E-F397461C9F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0487" y="2103654"/>
            <a:ext cx="8148019" cy="4754346"/>
          </a:xfr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F124CF79-A712-4EE4-9E32-E24456211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990" y="1199662"/>
            <a:ext cx="7783011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7216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2AE54-6D6C-47D8-902F-A7565AC26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204" y="3027485"/>
            <a:ext cx="8596668" cy="1320800"/>
          </a:xfrm>
        </p:spPr>
        <p:txBody>
          <a:bodyPr/>
          <a:lstStyle/>
          <a:p>
            <a:r>
              <a:rPr lang="es-AR" dirty="0"/>
              <a:t>ADC y filtro digital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2987067-EA3D-4972-8AF3-E37840C210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54800" y="219440"/>
            <a:ext cx="6779646" cy="6419120"/>
          </a:xfrm>
        </p:spPr>
      </p:pic>
    </p:spTree>
    <p:extLst>
      <p:ext uri="{BB962C8B-B14F-4D97-AF65-F5344CB8AC3E}">
        <p14:creationId xmlns:p14="http://schemas.microsoft.com/office/powerpoint/2010/main" val="8256211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600BA6-CD74-4678-9C88-B464E0429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Ensayo seno puro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4790094-082F-4F7B-8ABC-7968645AB0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6628" y="1544055"/>
            <a:ext cx="8378743" cy="4704345"/>
          </a:xfrm>
        </p:spPr>
      </p:pic>
    </p:spTree>
    <p:extLst>
      <p:ext uri="{BB962C8B-B14F-4D97-AF65-F5344CB8AC3E}">
        <p14:creationId xmlns:p14="http://schemas.microsoft.com/office/powerpoint/2010/main" val="211949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4DD16-3E0C-470B-BB48-5D12D53E0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749" y="319454"/>
            <a:ext cx="8596668" cy="1320800"/>
          </a:xfrm>
        </p:spPr>
        <p:txBody>
          <a:bodyPr/>
          <a:lstStyle/>
          <a:p>
            <a:r>
              <a:rPr lang="es-AR" dirty="0"/>
              <a:t>Ensayo seno puro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B89F836-B95D-4470-8722-B479F9D4E3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5379" y="1120531"/>
            <a:ext cx="7147028" cy="5628286"/>
          </a:xfrm>
        </p:spPr>
      </p:pic>
    </p:spTree>
    <p:extLst>
      <p:ext uri="{BB962C8B-B14F-4D97-AF65-F5344CB8AC3E}">
        <p14:creationId xmlns:p14="http://schemas.microsoft.com/office/powerpoint/2010/main" val="12434616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64BC45-24ED-4EFF-AE77-A9F2BD1F9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5D65370-EB84-4E02-9489-8E4AF051C3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34461"/>
          <a:stretch/>
        </p:blipFill>
        <p:spPr>
          <a:xfrm>
            <a:off x="263537" y="609600"/>
            <a:ext cx="5987794" cy="6058423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E3DDCB3-38D1-4441-9461-B21214302C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5513" r="-17426"/>
          <a:stretch/>
        </p:blipFill>
        <p:spPr>
          <a:xfrm>
            <a:off x="6035681" y="1773115"/>
            <a:ext cx="7304236" cy="3311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778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A7EF3-BA87-4AA7-A21B-A7729B857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6AD0F36-693C-4E3F-9CEB-4C2F60DB84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529" y="1160945"/>
            <a:ext cx="8094178" cy="5424937"/>
          </a:xfrm>
        </p:spPr>
      </p:pic>
    </p:spTree>
    <p:extLst>
      <p:ext uri="{BB962C8B-B14F-4D97-AF65-F5344CB8AC3E}">
        <p14:creationId xmlns:p14="http://schemas.microsoft.com/office/powerpoint/2010/main" val="13870284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026EB3-2E12-41D3-B4D3-80CE1450C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2C7E1D5-3EB1-449D-ACB6-1CAEB4494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43E5F9-26F4-427C-90A8-34F39A53B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014" y="1270000"/>
            <a:ext cx="7400748" cy="221826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F581CBD-5F52-4E52-803F-7D6A3E6B7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961" y="3882161"/>
            <a:ext cx="7419801" cy="2159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1941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203CB7-6BE2-46DD-B562-7DC997233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Vibración aleatoria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F5ADF406-07F1-4E91-BE83-895E81ABBE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2763" y="1334522"/>
            <a:ext cx="7862205" cy="4913878"/>
          </a:xfrm>
        </p:spPr>
      </p:pic>
    </p:spTree>
    <p:extLst>
      <p:ext uri="{BB962C8B-B14F-4D97-AF65-F5344CB8AC3E}">
        <p14:creationId xmlns:p14="http://schemas.microsoft.com/office/powerpoint/2010/main" val="3142951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5AF59A-7C6C-4D9C-873B-A6459E8BB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Vibración aleatoria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C8F3B4-BEBD-480B-9606-1C9A5AB7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1853E99-1BCA-4B7D-B272-EF17B1760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708" y="2811220"/>
            <a:ext cx="8023517" cy="162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7334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C125F9-2ABC-4CC2-9A51-8439EDBC3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Vibración aleatoria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9157B69E-261E-4251-A770-6F6205B1FE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9995" y="1332541"/>
            <a:ext cx="8235821" cy="5147389"/>
          </a:xfrm>
        </p:spPr>
      </p:pic>
    </p:spTree>
    <p:extLst>
      <p:ext uri="{BB962C8B-B14F-4D97-AF65-F5344CB8AC3E}">
        <p14:creationId xmlns:p14="http://schemas.microsoft.com/office/powerpoint/2010/main" val="12080500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5EBB74-C9E7-4CE5-AA66-84E13DD7B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Barrido de frecuencias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BFDD0C74-3BEF-42B5-9743-6C8045D122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9458" y="2617788"/>
            <a:ext cx="6073042" cy="4328744"/>
          </a:xfr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A733A05-0059-47C3-A701-8C3BEAE84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929" y="1270000"/>
            <a:ext cx="7772399" cy="132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00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02FDC3-C1DE-401F-9FF1-4840A140B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Barrido de frecuencias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8815EC7-10D8-4721-BC93-715563470E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24908" y="1930400"/>
            <a:ext cx="6972907" cy="4706507"/>
          </a:xfrm>
        </p:spPr>
      </p:pic>
    </p:spTree>
    <p:extLst>
      <p:ext uri="{BB962C8B-B14F-4D97-AF65-F5344CB8AC3E}">
        <p14:creationId xmlns:p14="http://schemas.microsoft.com/office/powerpoint/2010/main" val="23790478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56DE61-992C-4D9E-A929-387D0E6E0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Conclusiones y posibles mejoras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986D22-3D7D-48C6-B0EA-E77D6DE1F3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F4EEEA0-EC78-4CA7-B423-A92812435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17" y="2204866"/>
            <a:ext cx="8168204" cy="272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0975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2A53883-E446-42D7-873D-F698C5F0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4934" y="2992315"/>
            <a:ext cx="8596668" cy="1320800"/>
          </a:xfrm>
        </p:spPr>
        <p:txBody>
          <a:bodyPr>
            <a:normAutofit/>
          </a:bodyPr>
          <a:lstStyle/>
          <a:p>
            <a:r>
              <a:rPr lang="es-AR" sz="5400" dirty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53784659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182</TotalTime>
  <Words>266</Words>
  <Application>Microsoft Office PowerPoint</Application>
  <PresentationFormat>Panorámica</PresentationFormat>
  <Paragraphs>55</Paragraphs>
  <Slides>34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Trebuchet MS</vt:lpstr>
      <vt:lpstr>Wingdings 3</vt:lpstr>
      <vt:lpstr>Faceta</vt:lpstr>
      <vt:lpstr>Control de excitador electrodinámico para pruebas de vibraciones en CubeSATs</vt:lpstr>
      <vt:lpstr>Motivación</vt:lpstr>
      <vt:lpstr>Objetivo</vt:lpstr>
      <vt:lpstr>Modelado lineal de la planta</vt:lpstr>
      <vt:lpstr>Modelado lineal de la planta</vt:lpstr>
      <vt:lpstr>Modelado lineal de la planta</vt:lpstr>
      <vt:lpstr>Modelado lineal de la planta</vt:lpstr>
      <vt:lpstr>Modelado lineal de la planta</vt:lpstr>
      <vt:lpstr>Modelado lineal de la planta</vt:lpstr>
      <vt:lpstr>Modelado lineal de la planta</vt:lpstr>
      <vt:lpstr>Modelado lineal de la planta</vt:lpstr>
      <vt:lpstr>No linealidades de la planta</vt:lpstr>
      <vt:lpstr>Presentación de PowerPoint</vt:lpstr>
      <vt:lpstr>Controlador</vt:lpstr>
      <vt:lpstr>Controlabilidad</vt:lpstr>
      <vt:lpstr>Controlador en cascada</vt:lpstr>
      <vt:lpstr>Controlador en cascada</vt:lpstr>
      <vt:lpstr>Controlador en cascada</vt:lpstr>
      <vt:lpstr>Sensor acelerómetro</vt:lpstr>
      <vt:lpstr>Sensor acelerómetro</vt:lpstr>
      <vt:lpstr>Filtro antialiasing</vt:lpstr>
      <vt:lpstr>ADC y filtro digital</vt:lpstr>
      <vt:lpstr>Ensayo seno puro</vt:lpstr>
      <vt:lpstr>Ensayo seno puro</vt:lpstr>
      <vt:lpstr>Presentación de PowerPoint</vt:lpstr>
      <vt:lpstr>Presentación de PowerPoint</vt:lpstr>
      <vt:lpstr>Presentación de PowerPoint</vt:lpstr>
      <vt:lpstr>Vibración aleatoria</vt:lpstr>
      <vt:lpstr>Vibración aleatoria</vt:lpstr>
      <vt:lpstr>Vibración aleatoria</vt:lpstr>
      <vt:lpstr>Barrido de frecuencias</vt:lpstr>
      <vt:lpstr>Barrido de frecuencias</vt:lpstr>
      <vt:lpstr>Conclusiones y posibles mejoras</vt:lpstr>
      <vt:lpstr>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excitador electrodinámico para pruebas de vibraciones en CubeSATs</dc:title>
  <dc:creator>Noxi-PC</dc:creator>
  <cp:lastModifiedBy>Noxi-PC</cp:lastModifiedBy>
  <cp:revision>16</cp:revision>
  <dcterms:created xsi:type="dcterms:W3CDTF">2025-08-06T21:09:03Z</dcterms:created>
  <dcterms:modified xsi:type="dcterms:W3CDTF">2025-08-08T17:06:09Z</dcterms:modified>
</cp:coreProperties>
</file>